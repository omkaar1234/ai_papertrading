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8" r:id="rId7"/>
    <p:sldId id="258" r:id="rId8"/>
    <p:sldId id="261" r:id="rId9"/>
    <p:sldId id="262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Arimo Bold" panose="020B0604020202020204" charset="0"/>
      <p:regular r:id="rId15"/>
    </p:embeddedFont>
    <p:embeddedFont>
      <p:font typeface="Bookmania" panose="020B0604020202020204" charset="0"/>
      <p:regular r:id="rId16"/>
    </p:embeddedFont>
    <p:embeddedFont>
      <p:font typeface="Calibri (MS)" panose="020B0604020202020204" charset="0"/>
      <p:regular r:id="rId17"/>
    </p:embeddedFont>
    <p:embeddedFont>
      <p:font typeface="Times New Roman Bold" panose="02020803070505020304" pitchFamily="18" charset="0"/>
      <p:regular r:id="rId18"/>
      <p:bold r:id="rId19"/>
    </p:embeddedFont>
    <p:embeddedFont>
      <p:font typeface="Times New Roman Bold Italics" panose="020B0604020202020204" charset="0"/>
      <p:regular r:id="rId20"/>
    </p:embeddedFont>
    <p:embeddedFont>
      <p:font typeface="TT Ramilla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706214" y="1348721"/>
            <a:ext cx="12774149" cy="1122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3600" b="1" u="sng">
                <a:solidFill>
                  <a:srgbClr val="B4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0184" y="2154555"/>
            <a:ext cx="16553326" cy="2518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39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B.Tech. (Information Technology)</a:t>
            </a:r>
          </a:p>
          <a:p>
            <a:pPr algn="ctr">
              <a:lnSpc>
                <a:spcPts val="7020"/>
              </a:lnSpc>
            </a:pPr>
            <a:r>
              <a:rPr lang="en-US" sz="39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Semester VI –Community Engagement PBL-Major Project</a:t>
            </a:r>
          </a:p>
          <a:p>
            <a:pPr algn="ctr">
              <a:lnSpc>
                <a:spcPts val="5040"/>
              </a:lnSpc>
            </a:pPr>
            <a:r>
              <a:rPr lang="en-US" sz="4200" b="1" dirty="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Intelligent AI-Assisted Trading Simulation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69585" y="7675178"/>
            <a:ext cx="10094925" cy="1040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1"/>
              </a:lnSpc>
            </a:pPr>
            <a:r>
              <a:rPr lang="en-US" sz="2986" b="1" i="1">
                <a:solidFill>
                  <a:srgbClr val="C55A11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        Under the guidance of :         </a:t>
            </a:r>
          </a:p>
          <a:p>
            <a:pPr algn="ctr">
              <a:lnSpc>
                <a:spcPts val="4121"/>
              </a:lnSpc>
            </a:pPr>
            <a:r>
              <a:rPr lang="en-US" sz="2986" b="1" i="1">
                <a:solidFill>
                  <a:srgbClr val="C55A11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Dr. Seema Yadav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02745" y="5048250"/>
            <a:ext cx="5882511" cy="3575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3912" b="1" i="1" dirty="0">
                <a:solidFill>
                  <a:srgbClr val="806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Team Members:</a:t>
            </a:r>
          </a:p>
          <a:p>
            <a:pPr algn="l">
              <a:lnSpc>
                <a:spcPts val="4499"/>
              </a:lnSpc>
            </a:pPr>
            <a:r>
              <a:rPr lang="en-US" sz="3260" b="1" i="1" dirty="0">
                <a:solidFill>
                  <a:srgbClr val="806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            </a:t>
            </a:r>
            <a:r>
              <a:rPr lang="en-US" sz="3260" b="1" dirty="0">
                <a:solidFill>
                  <a:srgbClr val="806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Bhumi </a:t>
            </a:r>
            <a:r>
              <a:rPr lang="en-US" sz="3260" b="1" dirty="0" err="1">
                <a:solidFill>
                  <a:srgbClr val="806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Khona</a:t>
            </a:r>
            <a:r>
              <a:rPr lang="en-US" sz="3260" b="1" dirty="0">
                <a:solidFill>
                  <a:srgbClr val="806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44</a:t>
            </a:r>
          </a:p>
          <a:p>
            <a:pPr algn="l">
              <a:lnSpc>
                <a:spcPts val="4499"/>
              </a:lnSpc>
            </a:pPr>
            <a:r>
              <a:rPr lang="en-US" sz="3260" b="1" i="1" dirty="0">
                <a:solidFill>
                  <a:srgbClr val="806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            </a:t>
            </a:r>
            <a:r>
              <a:rPr lang="en-US" sz="3260" b="1" dirty="0">
                <a:solidFill>
                  <a:srgbClr val="806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Nandan </a:t>
            </a:r>
            <a:r>
              <a:rPr lang="en-US" sz="3260" b="1" dirty="0" err="1">
                <a:solidFill>
                  <a:srgbClr val="806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Khatod</a:t>
            </a:r>
            <a:r>
              <a:rPr lang="en-US" sz="3260" b="1" dirty="0">
                <a:solidFill>
                  <a:srgbClr val="806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43</a:t>
            </a:r>
          </a:p>
          <a:p>
            <a:pPr algn="l">
              <a:lnSpc>
                <a:spcPts val="4499"/>
              </a:lnSpc>
            </a:pPr>
            <a:r>
              <a:rPr lang="en-US" sz="3260" b="1" dirty="0">
                <a:solidFill>
                  <a:srgbClr val="806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Omkar Kulkarni  47</a:t>
            </a:r>
          </a:p>
          <a:p>
            <a:pPr marL="668818" lvl="1" indent="-334409" algn="ctr">
              <a:lnSpc>
                <a:spcPts val="5099"/>
              </a:lnSpc>
            </a:pPr>
            <a:endParaRPr lang="en-US" sz="3260" b="1" dirty="0">
              <a:solidFill>
                <a:srgbClr val="806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90047" lvl="1" indent="-295023" algn="ctr">
              <a:lnSpc>
                <a:spcPts val="4499"/>
              </a:lnSpc>
            </a:pPr>
            <a:endParaRPr lang="en-US" sz="3260" b="1" dirty="0">
              <a:solidFill>
                <a:srgbClr val="806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6729062" y="-53711"/>
            <a:ext cx="1566081" cy="1364723"/>
            <a:chOff x="0" y="0"/>
            <a:chExt cx="2088109" cy="1819631"/>
          </a:xfrm>
        </p:grpSpPr>
        <p:sp>
          <p:nvSpPr>
            <p:cNvPr id="14" name="Freeform 14" descr="A close up of a sign  Description automatically generated"/>
            <p:cNvSpPr/>
            <p:nvPr/>
          </p:nvSpPr>
          <p:spPr>
            <a:xfrm>
              <a:off x="0" y="0"/>
              <a:ext cx="2088134" cy="1819656"/>
            </a:xfrm>
            <a:custGeom>
              <a:avLst/>
              <a:gdLst/>
              <a:ahLst/>
              <a:cxnLst/>
              <a:rect l="l" t="t" r="r" b="b"/>
              <a:pathLst>
                <a:path w="2088134" h="1819656">
                  <a:moveTo>
                    <a:pt x="0" y="0"/>
                  </a:moveTo>
                  <a:lnTo>
                    <a:pt x="2088134" y="0"/>
                  </a:lnTo>
                  <a:lnTo>
                    <a:pt x="2088134" y="1819656"/>
                  </a:lnTo>
                  <a:lnTo>
                    <a:pt x="0" y="1819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6688"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-19050" y="73371"/>
            <a:ext cx="5522509" cy="1571844"/>
            <a:chOff x="0" y="0"/>
            <a:chExt cx="7363346" cy="20957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63333" cy="2095754"/>
            </a:xfrm>
            <a:custGeom>
              <a:avLst/>
              <a:gdLst/>
              <a:ahLst/>
              <a:cxnLst/>
              <a:rect l="l" t="t" r="r" b="b"/>
              <a:pathLst>
                <a:path w="7363333" h="2095754">
                  <a:moveTo>
                    <a:pt x="0" y="0"/>
                  </a:moveTo>
                  <a:lnTo>
                    <a:pt x="7363333" y="0"/>
                  </a:lnTo>
                  <a:lnTo>
                    <a:pt x="7363333" y="2095754"/>
                  </a:lnTo>
                  <a:lnTo>
                    <a:pt x="0" y="2095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20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569738" y="2167145"/>
            <a:ext cx="17392716" cy="6607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83"/>
              </a:lnSpc>
            </a:pPr>
            <a:endParaRPr dirty="0"/>
          </a:p>
          <a:p>
            <a:pPr algn="just">
              <a:lnSpc>
                <a:spcPts val="5728"/>
              </a:lnSpc>
            </a:pPr>
            <a:r>
              <a:rPr lang="en-US" sz="4307" dirty="0">
                <a:solidFill>
                  <a:srgbClr val="3857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markets are highly dynamic and </a:t>
            </a:r>
            <a:r>
              <a:rPr lang="en-US" sz="4307" dirty="0" err="1">
                <a:solidFill>
                  <a:srgbClr val="3857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complex.Traditional</a:t>
            </a:r>
            <a:r>
              <a:rPr lang="en-US" sz="4307" dirty="0">
                <a:solidFill>
                  <a:srgbClr val="3857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trading relies on human analysis, which can be slow and error-</a:t>
            </a:r>
            <a:r>
              <a:rPr lang="en-US" sz="4307" dirty="0" err="1">
                <a:solidFill>
                  <a:srgbClr val="3857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prone.With</a:t>
            </a:r>
            <a:r>
              <a:rPr lang="en-US" sz="4307" dirty="0">
                <a:solidFill>
                  <a:srgbClr val="3857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rise of Artificial Intelligence (AI), trading systems can now analyze large datasets quickly.</a:t>
            </a:r>
          </a:p>
          <a:p>
            <a:pPr algn="just">
              <a:lnSpc>
                <a:spcPts val="5728"/>
              </a:lnSpc>
            </a:pPr>
            <a:r>
              <a:rPr lang="en-US" sz="4307" dirty="0">
                <a:solidFill>
                  <a:srgbClr val="3857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AI-assisted trading simulation system allows users to test strategies in a risk-free </a:t>
            </a:r>
            <a:r>
              <a:rPr lang="en-US" sz="4307" dirty="0" err="1">
                <a:solidFill>
                  <a:srgbClr val="3857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environment.It</a:t>
            </a:r>
            <a:r>
              <a:rPr lang="en-US" sz="4307" dirty="0">
                <a:solidFill>
                  <a:srgbClr val="3857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helps traders make data-driven decisions without real financial loss.</a:t>
            </a:r>
          </a:p>
          <a:p>
            <a:pPr algn="just">
              <a:lnSpc>
                <a:spcPts val="5728"/>
              </a:lnSpc>
            </a:pPr>
            <a:endParaRPr lang="en-US" sz="4307" dirty="0">
              <a:solidFill>
                <a:srgbClr val="38572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-19050" y="73371"/>
            <a:ext cx="5522509" cy="1571844"/>
            <a:chOff x="0" y="0"/>
            <a:chExt cx="7363346" cy="20957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63333" cy="2095754"/>
            </a:xfrm>
            <a:custGeom>
              <a:avLst/>
              <a:gdLst/>
              <a:ahLst/>
              <a:cxnLst/>
              <a:rect l="l" t="t" r="r" b="b"/>
              <a:pathLst>
                <a:path w="7363333" h="2095754">
                  <a:moveTo>
                    <a:pt x="0" y="0"/>
                  </a:moveTo>
                  <a:lnTo>
                    <a:pt x="7363333" y="0"/>
                  </a:lnTo>
                  <a:lnTo>
                    <a:pt x="7363333" y="2095754"/>
                  </a:lnTo>
                  <a:lnTo>
                    <a:pt x="0" y="2095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205" b="-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748907" y="74266"/>
            <a:ext cx="10539098" cy="1570947"/>
            <a:chOff x="0" y="0"/>
            <a:chExt cx="14052131" cy="20945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052169" cy="2094609"/>
            </a:xfrm>
            <a:custGeom>
              <a:avLst/>
              <a:gdLst/>
              <a:ahLst/>
              <a:cxnLst/>
              <a:rect l="l" t="t" r="r" b="b"/>
              <a:pathLst>
                <a:path w="14052169" h="2094609">
                  <a:moveTo>
                    <a:pt x="0" y="0"/>
                  </a:moveTo>
                  <a:lnTo>
                    <a:pt x="14052169" y="0"/>
                  </a:lnTo>
                  <a:lnTo>
                    <a:pt x="14052169" y="2094609"/>
                  </a:lnTo>
                  <a:lnTo>
                    <a:pt x="0" y="2094609"/>
                  </a:lnTo>
                  <a:close/>
                </a:path>
              </a:pathLst>
            </a:custGeom>
            <a:solidFill>
              <a:srgbClr val="F8D6C7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28575"/>
              <a:ext cx="14052131" cy="2066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915637" y="435321"/>
            <a:ext cx="4256961" cy="979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843C0B"/>
                </a:solidFill>
                <a:latin typeface="Bookmania"/>
                <a:ea typeface="Bookmania"/>
                <a:cs typeface="Bookmania"/>
                <a:sym typeface="Bookmania"/>
              </a:rPr>
              <a:t>Objectives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19050" y="73371"/>
            <a:ext cx="5522509" cy="1571844"/>
            <a:chOff x="0" y="0"/>
            <a:chExt cx="7363346" cy="20957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63333" cy="2095754"/>
            </a:xfrm>
            <a:custGeom>
              <a:avLst/>
              <a:gdLst/>
              <a:ahLst/>
              <a:cxnLst/>
              <a:rect l="l" t="t" r="r" b="b"/>
              <a:pathLst>
                <a:path w="7363333" h="2095754">
                  <a:moveTo>
                    <a:pt x="0" y="0"/>
                  </a:moveTo>
                  <a:lnTo>
                    <a:pt x="7363333" y="0"/>
                  </a:lnTo>
                  <a:lnTo>
                    <a:pt x="7363333" y="2095754"/>
                  </a:lnTo>
                  <a:lnTo>
                    <a:pt x="0" y="2095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205" b="-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748902" y="60789"/>
            <a:ext cx="10539098" cy="1570949"/>
            <a:chOff x="0" y="0"/>
            <a:chExt cx="14052131" cy="20945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052169" cy="2094611"/>
            </a:xfrm>
            <a:custGeom>
              <a:avLst/>
              <a:gdLst/>
              <a:ahLst/>
              <a:cxnLst/>
              <a:rect l="l" t="t" r="r" b="b"/>
              <a:pathLst>
                <a:path w="14052169" h="2094611">
                  <a:moveTo>
                    <a:pt x="0" y="0"/>
                  </a:moveTo>
                  <a:lnTo>
                    <a:pt x="14052169" y="0"/>
                  </a:lnTo>
                  <a:lnTo>
                    <a:pt x="14052169" y="2094611"/>
                  </a:lnTo>
                  <a:lnTo>
                    <a:pt x="0" y="2094611"/>
                  </a:lnTo>
                  <a:close/>
                </a:path>
              </a:pathLst>
            </a:custGeom>
            <a:solidFill>
              <a:srgbClr val="F8D6C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14052131" cy="20660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54329" y="2712268"/>
            <a:ext cx="15376271" cy="482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30332" lvl="1" indent="-515166" algn="l">
              <a:lnSpc>
                <a:spcPts val="6442"/>
              </a:lnSpc>
              <a:buAutoNum type="arabicPeriod"/>
            </a:pPr>
            <a:r>
              <a:rPr lang="en-US" sz="47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intelligent trading simulation platform</a:t>
            </a:r>
          </a:p>
          <a:p>
            <a:pPr marL="1030332" lvl="1" indent="-515166" algn="l">
              <a:lnSpc>
                <a:spcPts val="6442"/>
              </a:lnSpc>
              <a:buAutoNum type="arabicPeriod"/>
            </a:pPr>
            <a:r>
              <a:rPr lang="en-US" sz="47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 stock market data using AI algorithms</a:t>
            </a:r>
          </a:p>
          <a:p>
            <a:pPr marL="1030332" lvl="1" indent="-515166" algn="l">
              <a:lnSpc>
                <a:spcPts val="6442"/>
              </a:lnSpc>
              <a:buAutoNum type="arabicPeriod"/>
            </a:pPr>
            <a:r>
              <a:rPr lang="en-US" sz="47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real-time decision support</a:t>
            </a:r>
          </a:p>
          <a:p>
            <a:pPr marL="1030332" lvl="1" indent="-515166" algn="l">
              <a:lnSpc>
                <a:spcPts val="6442"/>
              </a:lnSpc>
              <a:buAutoNum type="arabicPeriod"/>
            </a:pPr>
            <a:r>
              <a:rPr lang="en-US" sz="47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simulate trading strategies without financial risk</a:t>
            </a:r>
          </a:p>
          <a:p>
            <a:pPr marL="1052742" lvl="1" indent="-526371" algn="l">
              <a:lnSpc>
                <a:spcPts val="6582"/>
              </a:lnSpc>
              <a:buAutoNum type="arabicPeriod"/>
            </a:pPr>
            <a:r>
              <a:rPr lang="en-US" sz="487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improve accuracy using machine learning models</a:t>
            </a:r>
          </a:p>
          <a:p>
            <a:pPr algn="l">
              <a:lnSpc>
                <a:spcPts val="5442"/>
              </a:lnSpc>
            </a:pPr>
            <a:endParaRPr lang="en-US" sz="487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748902" y="60789"/>
            <a:ext cx="10539098" cy="1570947"/>
            <a:chOff x="0" y="0"/>
            <a:chExt cx="14052131" cy="20945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052169" cy="2094609"/>
            </a:xfrm>
            <a:custGeom>
              <a:avLst/>
              <a:gdLst/>
              <a:ahLst/>
              <a:cxnLst/>
              <a:rect l="l" t="t" r="r" b="b"/>
              <a:pathLst>
                <a:path w="14052169" h="2094609">
                  <a:moveTo>
                    <a:pt x="0" y="0"/>
                  </a:moveTo>
                  <a:lnTo>
                    <a:pt x="14052169" y="0"/>
                  </a:lnTo>
                  <a:lnTo>
                    <a:pt x="14052169" y="2094609"/>
                  </a:lnTo>
                  <a:lnTo>
                    <a:pt x="0" y="2094609"/>
                  </a:lnTo>
                  <a:close/>
                </a:path>
              </a:pathLst>
            </a:custGeom>
            <a:solidFill>
              <a:srgbClr val="F8D6C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4052131" cy="2066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METHODOLOGY</a:t>
              </a:r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016F3483-95A9-014A-F724-4C607F60A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400406"/>
            <a:ext cx="1767840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Stock market data is collected using APIs.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collected data is cleaned and normalized to remove                                                                                                   inconsistencies.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Application: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and deep learning models are applied to analyze patterns.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 Generation: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model outputs, buy/sell signals are generated.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Trade Simulation: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Trades are executed in a virtual environment to mimic real market conditions.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evaluates profit/loss and other performance metrics.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748902" y="60789"/>
            <a:ext cx="10539098" cy="1570947"/>
            <a:chOff x="0" y="0"/>
            <a:chExt cx="14052131" cy="20945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052169" cy="2094609"/>
            </a:xfrm>
            <a:custGeom>
              <a:avLst/>
              <a:gdLst/>
              <a:ahLst/>
              <a:cxnLst/>
              <a:rect l="l" t="t" r="r" b="b"/>
              <a:pathLst>
                <a:path w="14052169" h="2094609">
                  <a:moveTo>
                    <a:pt x="0" y="0"/>
                  </a:moveTo>
                  <a:lnTo>
                    <a:pt x="14052169" y="0"/>
                  </a:lnTo>
                  <a:lnTo>
                    <a:pt x="14052169" y="2094609"/>
                  </a:lnTo>
                  <a:lnTo>
                    <a:pt x="0" y="2094609"/>
                  </a:lnTo>
                  <a:close/>
                </a:path>
              </a:pathLst>
            </a:custGeom>
            <a:solidFill>
              <a:srgbClr val="F8D6C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4052131" cy="2066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 STACK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65461" y="3166918"/>
            <a:ext cx="16957079" cy="462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935" lvl="1" indent="-485968" algn="l">
              <a:lnSpc>
                <a:spcPts val="6077"/>
              </a:lnSpc>
              <a:buFont typeface="Arial"/>
              <a:buChar char="•"/>
            </a:pPr>
            <a:r>
              <a:rPr lang="en-US" sz="450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developed using React (MERN stack)</a:t>
            </a:r>
          </a:p>
          <a:p>
            <a:pPr marL="971935" lvl="1" indent="-485968" algn="l">
              <a:lnSpc>
                <a:spcPts val="6077"/>
              </a:lnSpc>
              <a:buFont typeface="Arial"/>
              <a:buChar char="•"/>
            </a:pPr>
            <a:r>
              <a:rPr lang="en-US" sz="450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using Node.js &amp; Express</a:t>
            </a:r>
          </a:p>
          <a:p>
            <a:pPr marL="971935" lvl="1" indent="-485968" algn="l">
              <a:lnSpc>
                <a:spcPts val="6077"/>
              </a:lnSpc>
              <a:buFont typeface="Arial"/>
              <a:buChar char="•"/>
            </a:pPr>
            <a:r>
              <a:rPr lang="en-US" sz="450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algorithms implemented using Python</a:t>
            </a:r>
          </a:p>
          <a:p>
            <a:pPr marL="971935" lvl="1" indent="-485968" algn="l">
              <a:lnSpc>
                <a:spcPts val="6077"/>
              </a:lnSpc>
              <a:buFont typeface="Arial"/>
              <a:buChar char="•"/>
            </a:pPr>
            <a:r>
              <a:rPr lang="en-US" sz="450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matching engine using C++</a:t>
            </a:r>
          </a:p>
          <a:p>
            <a:pPr algn="l">
              <a:lnSpc>
                <a:spcPts val="6077"/>
              </a:lnSpc>
            </a:pPr>
            <a:endParaRPr lang="en-US" sz="450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077"/>
              </a:lnSpc>
            </a:pPr>
            <a:endParaRPr lang="en-US" sz="450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5CFF0-4B6C-C17C-B7D7-F3AF371DD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AE3F6E-30CF-ABBE-2CC6-A09AC6FE815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F8FF0AE-6368-C94B-8B1B-CA36273900BC}"/>
              </a:ext>
            </a:extLst>
          </p:cNvPr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9046F8A-0A63-A0E6-BE40-CB4B12E9AE1E}"/>
                </a:ext>
              </a:extLst>
            </p:cNvPr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C912021-FB19-1803-CF2A-C4C8250DC5EE}"/>
              </a:ext>
            </a:extLst>
          </p:cNvPr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BB4C113-8218-33FD-370E-44D100960CB0}"/>
                </a:ext>
              </a:extLst>
            </p:cNvPr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D839B3C6-CD26-D5EB-E0D1-4BE9E1946811}"/>
              </a:ext>
            </a:extLst>
          </p:cNvPr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C753510-7B94-9EC6-DA80-47A0E7001EC4}"/>
                </a:ext>
              </a:extLst>
            </p:cNvPr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48503E0-137E-3C8A-8118-F7629459393E}"/>
              </a:ext>
            </a:extLst>
          </p:cNvPr>
          <p:cNvGrpSpPr/>
          <p:nvPr/>
        </p:nvGrpSpPr>
        <p:grpSpPr>
          <a:xfrm>
            <a:off x="7748907" y="0"/>
            <a:ext cx="10539098" cy="1447476"/>
            <a:chOff x="0" y="0"/>
            <a:chExt cx="14052131" cy="2094596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EF65CCC-A143-35B2-4C59-F8E688F6EABC}"/>
                </a:ext>
              </a:extLst>
            </p:cNvPr>
            <p:cNvSpPr/>
            <p:nvPr/>
          </p:nvSpPr>
          <p:spPr>
            <a:xfrm>
              <a:off x="0" y="0"/>
              <a:ext cx="14052169" cy="2094609"/>
            </a:xfrm>
            <a:custGeom>
              <a:avLst/>
              <a:gdLst/>
              <a:ahLst/>
              <a:cxnLst/>
              <a:rect l="l" t="t" r="r" b="b"/>
              <a:pathLst>
                <a:path w="14052169" h="2094609">
                  <a:moveTo>
                    <a:pt x="0" y="0"/>
                  </a:moveTo>
                  <a:lnTo>
                    <a:pt x="14052169" y="0"/>
                  </a:lnTo>
                  <a:lnTo>
                    <a:pt x="14052169" y="2094609"/>
                  </a:lnTo>
                  <a:lnTo>
                    <a:pt x="0" y="2094609"/>
                  </a:lnTo>
                  <a:close/>
                </a:path>
              </a:pathLst>
            </a:custGeom>
            <a:solidFill>
              <a:srgbClr val="F8D6C7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B412A64-138F-E868-48D1-8037F738F425}"/>
                </a:ext>
              </a:extLst>
            </p:cNvPr>
            <p:cNvSpPr txBox="1"/>
            <p:nvPr/>
          </p:nvSpPr>
          <p:spPr>
            <a:xfrm>
              <a:off x="0" y="28575"/>
              <a:ext cx="14052131" cy="2066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Times New Roman "/>
                  <a:ea typeface="Times New Roman Bold"/>
                  <a:cs typeface="Times New Roman Bold"/>
                  <a:sym typeface="Times New Roman Bold"/>
                </a:rPr>
                <a:t>SYSTEM ARCHITECTURE  DIAGRAM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76D4B73-E483-C94F-E2EA-B8BCABE9B2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2000245"/>
            <a:ext cx="13563600" cy="702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445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28638" y="1760320"/>
          <a:ext cx="17372059" cy="7040780"/>
        </p:xfrm>
        <a:graphic>
          <a:graphicData uri="http://schemas.openxmlformats.org/drawingml/2006/table">
            <a:tbl>
              <a:tblPr/>
              <a:tblGrid>
                <a:gridCol w="1048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2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5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0538"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F2F2F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Sr. No.</a:t>
                      </a:r>
                      <a:endParaRPr lang="en-US" sz="1100"/>
                    </a:p>
                  </a:txBody>
                  <a:tcPr marL="29009" marR="29009" marT="29009" marB="29009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F2F2F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Literature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F2F2F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Published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F2F2F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Key Findings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207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29009" marR="29009" marT="29009" marB="29009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Stock Price Prediction using LSTM Networks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Fischer &amp; Krauss (2018)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Demonstrated LSTM’s ability to capture time-series dependencies in stock data for better forecasting.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2070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29009" marR="29009" marT="29009" marB="29009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Sentiment Analysis for Financial Markets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Bollen et al. (2011)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Used sentiment  to predict stock market movements; showed correlation between mood and market trends.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051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29009" marR="29009" marT="29009" marB="29009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AI in Financial Trading Systems: A Survey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Zhang et al. (2020)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Provided overview of AI techniques in trading including ML, NLP, and RL; highlighted challenges like volatility and risk.</a:t>
                      </a:r>
                      <a:endParaRPr lang="en-US" sz="1100" dirty="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051"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29009" marR="29009" marT="29009" marB="29009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Simulation-Based Trading Systems using AI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 et al. (2021)</a:t>
                      </a:r>
                      <a:endParaRPr lang="en-US" sz="110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Proposed trading simulators for testing AI strategies without real risk; useful for training and validation.</a:t>
                      </a:r>
                      <a:endParaRPr lang="en-US" sz="1100" dirty="0"/>
                    </a:p>
                  </a:txBody>
                  <a:tcPr marL="29009" marR="29009" marT="29009" marB="2900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7748902" y="60789"/>
            <a:ext cx="10539098" cy="1570947"/>
            <a:chOff x="0" y="0"/>
            <a:chExt cx="14052131" cy="20945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052169" cy="2094609"/>
            </a:xfrm>
            <a:custGeom>
              <a:avLst/>
              <a:gdLst/>
              <a:ahLst/>
              <a:cxnLst/>
              <a:rect l="l" t="t" r="r" b="b"/>
              <a:pathLst>
                <a:path w="14052169" h="2094609">
                  <a:moveTo>
                    <a:pt x="0" y="0"/>
                  </a:moveTo>
                  <a:lnTo>
                    <a:pt x="14052169" y="0"/>
                  </a:lnTo>
                  <a:lnTo>
                    <a:pt x="14052169" y="2094609"/>
                  </a:lnTo>
                  <a:lnTo>
                    <a:pt x="0" y="2094609"/>
                  </a:lnTo>
                  <a:close/>
                </a:path>
              </a:pathLst>
            </a:custGeom>
            <a:solidFill>
              <a:srgbClr val="F8D6C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28575"/>
              <a:ext cx="14052131" cy="2066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1550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748902" y="60789"/>
            <a:ext cx="10539098" cy="1570947"/>
            <a:chOff x="0" y="0"/>
            <a:chExt cx="14052131" cy="20945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052169" cy="2094609"/>
            </a:xfrm>
            <a:custGeom>
              <a:avLst/>
              <a:gdLst/>
              <a:ahLst/>
              <a:cxnLst/>
              <a:rect l="l" t="t" r="r" b="b"/>
              <a:pathLst>
                <a:path w="14052169" h="2094609">
                  <a:moveTo>
                    <a:pt x="0" y="0"/>
                  </a:moveTo>
                  <a:lnTo>
                    <a:pt x="14052169" y="0"/>
                  </a:lnTo>
                  <a:lnTo>
                    <a:pt x="14052169" y="2094609"/>
                  </a:lnTo>
                  <a:lnTo>
                    <a:pt x="0" y="2094609"/>
                  </a:lnTo>
                  <a:close/>
                </a:path>
              </a:pathLst>
            </a:custGeom>
            <a:solidFill>
              <a:srgbClr val="F8D6C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4052131" cy="2066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 DIAGRAM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47B57D2-F696-D4E8-1843-16F285BF6D8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3"/>
          <a:stretch>
            <a:fillRect/>
          </a:stretch>
        </p:blipFill>
        <p:spPr bwMode="auto">
          <a:xfrm>
            <a:off x="2895600" y="2457699"/>
            <a:ext cx="11963400" cy="63396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748907" y="0"/>
            <a:ext cx="10539098" cy="1447476"/>
            <a:chOff x="0" y="0"/>
            <a:chExt cx="14052131" cy="20945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052169" cy="2094609"/>
            </a:xfrm>
            <a:custGeom>
              <a:avLst/>
              <a:gdLst/>
              <a:ahLst/>
              <a:cxnLst/>
              <a:rect l="l" t="t" r="r" b="b"/>
              <a:pathLst>
                <a:path w="14052169" h="2094609">
                  <a:moveTo>
                    <a:pt x="0" y="0"/>
                  </a:moveTo>
                  <a:lnTo>
                    <a:pt x="14052169" y="0"/>
                  </a:lnTo>
                  <a:lnTo>
                    <a:pt x="14052169" y="2094609"/>
                  </a:lnTo>
                  <a:lnTo>
                    <a:pt x="0" y="2094609"/>
                  </a:lnTo>
                  <a:close/>
                </a:path>
              </a:pathLst>
            </a:custGeom>
            <a:solidFill>
              <a:srgbClr val="F8D6C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4052131" cy="2066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SEQUENCE  DIAGRAM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128BBB6-F1B8-3E15-C43F-12047B05E6E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9"/>
          <a:stretch>
            <a:fillRect/>
          </a:stretch>
        </p:blipFill>
        <p:spPr bwMode="auto">
          <a:xfrm>
            <a:off x="2360824" y="2285838"/>
            <a:ext cx="13566351" cy="6477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748902" y="60789"/>
            <a:ext cx="10539098" cy="1570947"/>
            <a:chOff x="0" y="0"/>
            <a:chExt cx="14052131" cy="20945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052169" cy="2094609"/>
            </a:xfrm>
            <a:custGeom>
              <a:avLst/>
              <a:gdLst/>
              <a:ahLst/>
              <a:cxnLst/>
              <a:rect l="l" t="t" r="r" b="b"/>
              <a:pathLst>
                <a:path w="14052169" h="2094609">
                  <a:moveTo>
                    <a:pt x="0" y="0"/>
                  </a:moveTo>
                  <a:lnTo>
                    <a:pt x="14052169" y="0"/>
                  </a:lnTo>
                  <a:lnTo>
                    <a:pt x="14052169" y="2094609"/>
                  </a:lnTo>
                  <a:lnTo>
                    <a:pt x="0" y="2094609"/>
                  </a:lnTo>
                  <a:close/>
                </a:path>
              </a:pathLst>
            </a:custGeom>
            <a:solidFill>
              <a:srgbClr val="F8D6C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4052131" cy="2066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RESULT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85416" y="2316787"/>
            <a:ext cx="16957079" cy="5345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399" lvl="1" indent="-421199" algn="l">
              <a:lnSpc>
                <a:spcPts val="5267"/>
              </a:lnSpc>
              <a:buFont typeface="Arial"/>
              <a:buChar char="•"/>
            </a:pPr>
            <a:r>
              <a:rPr lang="en-US" sz="39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a working interface where users can explore trading options in an easy and interactive way</a:t>
            </a:r>
          </a:p>
          <a:p>
            <a:pPr marL="842399" lvl="1" indent="-421199" algn="l">
              <a:lnSpc>
                <a:spcPts val="5267"/>
              </a:lnSpc>
              <a:buFont typeface="Arial"/>
              <a:buChar char="•"/>
            </a:pPr>
            <a:r>
              <a:rPr lang="en-US" sz="39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gives basic suggestions like “Hold” with a confidence level to guide user decisions</a:t>
            </a:r>
          </a:p>
          <a:p>
            <a:pPr marL="842399" lvl="1" indent="-421199" algn="l">
              <a:lnSpc>
                <a:spcPts val="5267"/>
              </a:lnSpc>
              <a:buFont typeface="Arial"/>
              <a:buChar char="•"/>
            </a:pPr>
            <a:r>
              <a:rPr lang="en-US" sz="39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users to place buy and sell orders to understand how trading works</a:t>
            </a:r>
          </a:p>
          <a:p>
            <a:pPr marL="842399" lvl="1" indent="-421199" algn="l">
              <a:lnSpc>
                <a:spcPts val="5267"/>
              </a:lnSpc>
              <a:buFont typeface="Arial"/>
              <a:buChar char="•"/>
            </a:pPr>
            <a:r>
              <a:rPr lang="en-US" sz="39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beginners learn trading concepts in a safe environment without any financial risk</a:t>
            </a:r>
          </a:p>
          <a:p>
            <a:pPr marL="842399" lvl="1" indent="-421199" algn="l">
              <a:lnSpc>
                <a:spcPts val="5267"/>
              </a:lnSpc>
              <a:buFont typeface="Arial"/>
              <a:buChar char="•"/>
            </a:pPr>
            <a:r>
              <a:rPr lang="en-US" sz="390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a base for adding smarter predictions and real-time features in the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748902" y="60789"/>
            <a:ext cx="10539098" cy="1570947"/>
            <a:chOff x="0" y="0"/>
            <a:chExt cx="14052131" cy="20945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052169" cy="2094609"/>
            </a:xfrm>
            <a:custGeom>
              <a:avLst/>
              <a:gdLst/>
              <a:ahLst/>
              <a:cxnLst/>
              <a:rect l="l" t="t" r="r" b="b"/>
              <a:pathLst>
                <a:path w="14052169" h="2094609">
                  <a:moveTo>
                    <a:pt x="0" y="0"/>
                  </a:moveTo>
                  <a:lnTo>
                    <a:pt x="14052169" y="0"/>
                  </a:lnTo>
                  <a:lnTo>
                    <a:pt x="14052169" y="2094609"/>
                  </a:lnTo>
                  <a:lnTo>
                    <a:pt x="0" y="2094609"/>
                  </a:lnTo>
                  <a:close/>
                </a:path>
              </a:pathLst>
            </a:custGeom>
            <a:solidFill>
              <a:srgbClr val="F8D6C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4052131" cy="2066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99219" y="3358365"/>
            <a:ext cx="16689562" cy="329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43"/>
              </a:lnSpc>
            </a:pPr>
            <a:r>
              <a:rPr lang="en-US" sz="388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integrates prediction with a full-stack trading architecture to simulate real-world market behavior. It enables users to analyze trends and execute trades through a matching engine in a risk-free environment. The platform can be further improved using real-time data integration and advanced techniques like reinforcement learning and sentiment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7748902" y="60789"/>
            <a:ext cx="10539098" cy="1570947"/>
            <a:chOff x="0" y="0"/>
            <a:chExt cx="14052131" cy="20945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052169" cy="2094609"/>
            </a:xfrm>
            <a:custGeom>
              <a:avLst/>
              <a:gdLst/>
              <a:ahLst/>
              <a:cxnLst/>
              <a:rect l="l" t="t" r="r" b="b"/>
              <a:pathLst>
                <a:path w="14052169" h="2094609">
                  <a:moveTo>
                    <a:pt x="0" y="0"/>
                  </a:moveTo>
                  <a:lnTo>
                    <a:pt x="14052169" y="0"/>
                  </a:lnTo>
                  <a:lnTo>
                    <a:pt x="14052169" y="2094609"/>
                  </a:lnTo>
                  <a:lnTo>
                    <a:pt x="0" y="2094609"/>
                  </a:lnTo>
                  <a:close/>
                </a:path>
              </a:pathLst>
            </a:custGeom>
            <a:solidFill>
              <a:srgbClr val="F8D6C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4052131" cy="2066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4"/>
                </a:lnSpc>
              </a:pPr>
              <a:r>
                <a:rPr lang="en-US" sz="4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REFERENCES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62348" y="2041244"/>
            <a:ext cx="16040407" cy="704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J. Patel, S. Shah, P. Thakkar, and K. Kotecha, </a:t>
            </a:r>
          </a:p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“Predicting stock and stock price index movement using trend deterministic data preparation and machine learning techniques,” </a:t>
            </a:r>
          </a:p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Systems with Applications, vol. 42, no. 1, pp. 259–268, 2015.</a:t>
            </a:r>
          </a:p>
          <a:p>
            <a:pPr algn="l">
              <a:lnSpc>
                <a:spcPts val="3534"/>
              </a:lnSpc>
            </a:pPr>
            <a:endParaRPr lang="en-US" sz="261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M. Dixon, D. Klabjan, and J. H. Bang, </a:t>
            </a:r>
          </a:p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“Classification-based financial markets prediction using deep neural networks,” </a:t>
            </a:r>
          </a:p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Algorithmic Finance, vol. 6, no. 3–4, pp. 67–77, 2017.</a:t>
            </a:r>
          </a:p>
          <a:p>
            <a:pPr algn="l">
              <a:lnSpc>
                <a:spcPts val="3534"/>
              </a:lnSpc>
            </a:pPr>
            <a:endParaRPr lang="en-US" sz="261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J. Moody and M. Saffell, </a:t>
            </a:r>
          </a:p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“Learning to trade via direct reinforcement,” </a:t>
            </a:r>
          </a:p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Transactions on Neural Networks, vol. 12, no. 4, pp. 875–889, 2001.</a:t>
            </a:r>
          </a:p>
          <a:p>
            <a:pPr algn="l">
              <a:lnSpc>
                <a:spcPts val="3534"/>
              </a:lnSpc>
            </a:pPr>
            <a:endParaRPr lang="en-US" sz="261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T. Fischer and C. Krauss, </a:t>
            </a:r>
          </a:p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“Deep learning with long short-term memory networks for financial market predictions,” </a:t>
            </a:r>
          </a:p>
          <a:p>
            <a:pPr algn="l">
              <a:lnSpc>
                <a:spcPts val="3534"/>
              </a:lnSpc>
            </a:pPr>
            <a:r>
              <a:rPr lang="en-US" sz="26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European Journal of Operational Research, vol. 270, no. 2, pp. 654–669, 2018.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9738" y="295332"/>
            <a:ext cx="4802362" cy="1152144"/>
            <a:chOff x="0" y="0"/>
            <a:chExt cx="6403150" cy="1536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3086" cy="1536192"/>
            </a:xfrm>
            <a:custGeom>
              <a:avLst/>
              <a:gdLst/>
              <a:ahLst/>
              <a:cxnLst/>
              <a:rect l="l" t="t" r="r" b="b"/>
              <a:pathLst>
                <a:path w="6403086" h="1536192">
                  <a:moveTo>
                    <a:pt x="0" y="0"/>
                  </a:moveTo>
                  <a:lnTo>
                    <a:pt x="6403086" y="0"/>
                  </a:lnTo>
                  <a:lnTo>
                    <a:pt x="6403086" y="1536192"/>
                  </a:lnTo>
                  <a:lnTo>
                    <a:pt x="0" y="153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8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7390362" y="2191141"/>
            <a:ext cx="717090" cy="15537209"/>
            <a:chOff x="0" y="0"/>
            <a:chExt cx="956120" cy="20716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56" cy="20716239"/>
            </a:xfrm>
            <a:custGeom>
              <a:avLst/>
              <a:gdLst/>
              <a:ahLst/>
              <a:cxnLst/>
              <a:rect l="l" t="t" r="r" b="b"/>
              <a:pathLst>
                <a:path w="956056" h="20716239">
                  <a:moveTo>
                    <a:pt x="0" y="0"/>
                  </a:moveTo>
                  <a:lnTo>
                    <a:pt x="956056" y="0"/>
                  </a:lnTo>
                  <a:lnTo>
                    <a:pt x="956056" y="20716239"/>
                  </a:lnTo>
                  <a:lnTo>
                    <a:pt x="0" y="20716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0628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16544211" y="8574500"/>
            <a:ext cx="717090" cy="2770499"/>
            <a:chOff x="0" y="0"/>
            <a:chExt cx="956120" cy="36939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6056" cy="3694049"/>
            </a:xfrm>
            <a:custGeom>
              <a:avLst/>
              <a:gdLst/>
              <a:ahLst/>
              <a:cxnLst/>
              <a:rect l="l" t="t" r="r" b="b"/>
              <a:pathLst>
                <a:path w="956056" h="3694049">
                  <a:moveTo>
                    <a:pt x="0" y="0"/>
                  </a:moveTo>
                  <a:lnTo>
                    <a:pt x="956056" y="0"/>
                  </a:lnTo>
                  <a:lnTo>
                    <a:pt x="956056" y="3694049"/>
                  </a:lnTo>
                  <a:lnTo>
                    <a:pt x="0" y="3694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" b="-211094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3220402" y="3407778"/>
            <a:ext cx="12090082" cy="3057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0"/>
              </a:lnSpc>
            </a:pPr>
            <a:r>
              <a:rPr lang="en-US" sz="19500" spc="-90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726</Words>
  <Application>Microsoft Office PowerPoint</Application>
  <PresentationFormat>Custom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Times New Roman</vt:lpstr>
      <vt:lpstr>Arial</vt:lpstr>
      <vt:lpstr>Times New Roman Bold Italics</vt:lpstr>
      <vt:lpstr>Calibri</vt:lpstr>
      <vt:lpstr>Calibri (MS)</vt:lpstr>
      <vt:lpstr>Arimo Bold</vt:lpstr>
      <vt:lpstr>Times New Roman Bold</vt:lpstr>
      <vt:lpstr>TT Ramillas</vt:lpstr>
      <vt:lpstr>Bookmania</vt:lpstr>
      <vt:lpstr>Times New Roman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AI_AssitedTradingSimulation</dc:title>
  <cp:lastModifiedBy>Omkar Kulkarni</cp:lastModifiedBy>
  <cp:revision>4</cp:revision>
  <dcterms:created xsi:type="dcterms:W3CDTF">2006-08-16T00:00:00Z</dcterms:created>
  <dcterms:modified xsi:type="dcterms:W3CDTF">2026-07-15T06:04:33Z</dcterms:modified>
  <dc:identifier>DAHG2_yj7mk</dc:identifier>
</cp:coreProperties>
</file>